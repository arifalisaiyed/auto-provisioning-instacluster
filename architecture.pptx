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2E8F0"/>
                </a:solidFill>
              </a:rPr>
              <a:t>Infra Monitor  —  Component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4A3B8"/>
                </a:solidFill>
              </a:rPr>
              <a:t>AI-powered infrastructure monitoring  ·  NetApp Instaclustr  ·  Groq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713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TERRAFORM  ·  instaclustr/instaclustr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96112"/>
            <a:ext cx="1463040" cy="713232"/>
          </a:xfrm>
          <a:prstGeom prst="rect">
            <a:avLst/>
          </a:prstGeom>
          <a:solidFill>
            <a:srgbClr val="1E293B"/>
          </a:solidFill>
          <a:ln w="203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50" b="1">
                <a:solidFill>
                  <a:srgbClr val="E2E8F0"/>
                </a:solidFill>
              </a:rPr>
              <a:t>Kafka Cluster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KFK-DEV-t4g.small-30 · 3 nodes · KRaft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896112"/>
            <a:ext cx="1554480" cy="713232"/>
          </a:xfrm>
          <a:prstGeom prst="rect">
            <a:avLst/>
          </a:prstGeom>
          <a:solidFill>
            <a:srgbClr val="1E293B"/>
          </a:solidFill>
          <a:ln w="203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50" b="1">
                <a:solidFill>
                  <a:srgbClr val="E2E8F0"/>
                </a:solidFill>
              </a:rPr>
              <a:t>Cassandra Cluster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CAS-DEV-t4g.medium-30 · 3 nodes · RF=3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7132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78BFA"/>
                </a:solidFill>
              </a:rPr>
              <a:t>APACHE KAFKA 3.9.1  ·  NetApp Instaclustr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896112"/>
            <a:ext cx="4572000" cy="713232"/>
          </a:xfrm>
          <a:prstGeom prst="rect">
            <a:avLst/>
          </a:prstGeom>
          <a:solidFill>
            <a:srgbClr val="2E1065"/>
          </a:solidFill>
          <a:ln w="203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1000" b="1">
                <a:solidFill>
                  <a:srgbClr val="E2E8F0"/>
                </a:solidFill>
              </a:rPr>
              <a:t>Topic: server-stats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3 brokers · SASL_PLAINTEXT · SCRAM-SHA-256 auth
auto.offset.reset = latest · 3 partitions · RF=3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7132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7E8F9"/>
                </a:solidFill>
              </a:rPr>
              <a:t>APACHE CASSANDRA 4.1.9  ·  NetApp Instaclustr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896112"/>
            <a:ext cx="3840480" cy="420624"/>
          </a:xfrm>
          <a:prstGeom prst="rect">
            <a:avLst/>
          </a:prstGeom>
          <a:solidFill>
            <a:srgbClr val="0C2340"/>
          </a:solidFill>
          <a:ln w="203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server_stats</a:t>
            </a:r>
          </a:p>
          <a:p>
            <a:pPr algn="ctr"/>
            <a:r>
              <a:rPr sz="700">
                <a:solidFill>
                  <a:srgbClr val="94A3B8"/>
                </a:solidFill>
              </a:rPr>
              <a:t>time-series · TTL 1d · PK(server_id, collected_at)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344168"/>
            <a:ext cx="3840480" cy="420624"/>
          </a:xfrm>
          <a:prstGeom prst="rect">
            <a:avLst/>
          </a:prstGeom>
          <a:solidFill>
            <a:srgbClr val="0C2340"/>
          </a:solidFill>
          <a:ln w="203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server_latest</a:t>
            </a:r>
          </a:p>
          <a:p>
            <a:pPr algn="ctr"/>
            <a:r>
              <a:rPr sz="700">
                <a:solidFill>
                  <a:srgbClr val="94A3B8"/>
                </a:solidFill>
              </a:rPr>
              <a:t>one row per server · PK(server_id)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792224"/>
            <a:ext cx="3840480" cy="420624"/>
          </a:xfrm>
          <a:prstGeom prst="rect">
            <a:avLst/>
          </a:prstGeom>
          <a:solidFill>
            <a:srgbClr val="0C2340"/>
          </a:solidFill>
          <a:ln w="203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remediation_actions</a:t>
            </a:r>
          </a:p>
          <a:p>
            <a:pPr algn="ctr"/>
            <a:r>
              <a:rPr sz="700">
                <a:solidFill>
                  <a:srgbClr val="94A3B8"/>
                </a:solidFill>
              </a:rPr>
              <a:t>TTL 7d · PK(server_id, actioned_at)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8BDF8"/>
                </a:solidFill>
              </a:rPr>
              <a:t>PRODUCER CONTAINER  · 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514600"/>
            <a:ext cx="3200400" cy="502920"/>
          </a:xfrm>
          <a:prstGeom prst="rect">
            <a:avLst/>
          </a:prstGeom>
          <a:solidFill>
            <a:srgbClr val="0C2340"/>
          </a:solidFill>
          <a:ln w="203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APScheduler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fires every 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054096"/>
            <a:ext cx="3200400" cy="594360"/>
          </a:xfrm>
          <a:prstGeom prst="rect">
            <a:avLst/>
          </a:prstGeom>
          <a:solidFill>
            <a:srgbClr val="0C2340"/>
          </a:solidFill>
          <a:ln w="203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stats_generator.py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5 servers · 20% anomaly rate · cpu · mem · disk · 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3685032"/>
            <a:ext cx="3200400" cy="594360"/>
          </a:xfrm>
          <a:prstGeom prst="rect">
            <a:avLst/>
          </a:prstGeom>
          <a:solidFill>
            <a:srgbClr val="0C2340"/>
          </a:solidFill>
          <a:ln w="203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kafka_publisher.py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confluent-kafka · JSON · server_id key · flush after batch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4315968"/>
            <a:ext cx="3200400" cy="594360"/>
          </a:xfrm>
          <a:prstGeom prst="rect">
            <a:avLst/>
          </a:prstGeom>
          <a:solidFill>
            <a:srgbClr val="0C2340"/>
          </a:solidFill>
          <a:ln w="203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Simulated Servers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web-01 · web-02 · db-01 · db-02 · cache-01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2514600"/>
            <a:ext cx="0" cy="53949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3054096"/>
            <a:ext cx="0" cy="63093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37360" y="3685032"/>
            <a:ext cx="0" cy="63093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29000" y="2331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DE80"/>
                </a:solidFill>
              </a:rPr>
              <a:t>CONSUMER CONTAINER  ·  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514600"/>
            <a:ext cx="4572000" cy="548640"/>
          </a:xfrm>
          <a:prstGeom prst="rect">
            <a:avLst/>
          </a:prstGeom>
          <a:solidFill>
            <a:srgbClr val="052E16"/>
          </a:solidFill>
          <a:ln w="2032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confluent-kafka consumer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group: infra-monitor-consumer · poll loop · auto-commit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099816"/>
            <a:ext cx="4572000" cy="548640"/>
          </a:xfrm>
          <a:prstGeom prst="rect">
            <a:avLst/>
          </a:prstGeom>
          <a:solidFill>
            <a:srgbClr val="052E16"/>
          </a:solidFill>
          <a:ln w="2032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thresholds.py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CPU &gt; 85%  ·  Memory &gt; 90%  ·  Disk &gt; 95%  ·  Net In &gt; 40 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685032"/>
            <a:ext cx="4572000" cy="548640"/>
          </a:xfrm>
          <a:prstGeom prst="rect">
            <a:avLst/>
          </a:prstGeom>
          <a:solidFill>
            <a:srgbClr val="052E16"/>
          </a:solidFill>
          <a:ln w="2032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llm_diagnose.py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LangChain · ChatGroq · StrOutputParser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270248"/>
            <a:ext cx="4572000" cy="548640"/>
          </a:xfrm>
          <a:prstGeom prst="rect">
            <a:avLst/>
          </a:prstGeom>
          <a:solidFill>
            <a:srgbClr val="052E16"/>
          </a:solidFill>
          <a:ln w="2032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actions.py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restart_server · clear_temp_files · scale_up_resources · run_hello_world_script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4855464"/>
            <a:ext cx="4572000" cy="594360"/>
          </a:xfrm>
          <a:prstGeom prst="rect">
            <a:avLst/>
          </a:prstGeom>
          <a:solidFill>
            <a:srgbClr val="052E16"/>
          </a:solidFill>
          <a:ln w="2032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cassandra_writer.py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cassandra-driver · upsert server_stats + server_latest · insert remediation_actions on breach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15000" y="2514600"/>
            <a:ext cx="0" cy="585216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15000" y="3099816"/>
            <a:ext cx="0" cy="585216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3685032"/>
            <a:ext cx="0" cy="585216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15000" y="4270248"/>
            <a:ext cx="0" cy="585216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29000" y="55778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BBF24"/>
                </a:solidFill>
              </a:rPr>
              <a:t>GROQ CLOUD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5760720"/>
            <a:ext cx="4572000" cy="804672"/>
          </a:xfrm>
          <a:prstGeom prst="rect">
            <a:avLst/>
          </a:prstGeom>
          <a:solidFill>
            <a:srgbClr val="451A03"/>
          </a:solidFill>
          <a:ln w="203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1000" b="1">
                <a:solidFill>
                  <a:srgbClr val="E2E8F0"/>
                </a:solidFill>
              </a:rPr>
              <a:t>llama-3.3-70b-versatile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Input: server metrics + triggered thresholds
Output: diagnosis paragraph + ACTION keyword · HTTPS 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3317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18CF8"/>
                </a:solidFill>
              </a:rPr>
              <a:t>DASHBOARD CONTAINER  ·  Python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2514600"/>
            <a:ext cx="3840480" cy="54864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FastAPI + Uvicorn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GET /  ·  GET /api/status  ·  GET /stream/kafka  ·  port 8000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099816"/>
            <a:ext cx="3840480" cy="54864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cassandra_reader.py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SELECT server_latest · SELECT remediation_actions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685032"/>
            <a:ext cx="3840480" cy="54864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900" b="1">
                <a:solidFill>
                  <a:srgbClr val="E2E8F0"/>
                </a:solidFill>
              </a:rPr>
              <a:t>kafka_stream.py  (SSE)</a:t>
            </a:r>
          </a:p>
          <a:p>
            <a:pPr algn="ctr"/>
            <a:r>
              <a:rPr sz="750">
                <a:solidFill>
                  <a:srgbClr val="94A3B8"/>
                </a:solidFill>
              </a:rPr>
              <a:t>confluent-kafka · group: dashboard-kafka-stream · text/event-stream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4315968"/>
            <a:ext cx="1828800" cy="68580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Overview Tab</a:t>
            </a:r>
          </a:p>
          <a:p>
            <a:pPr algn="ctr"/>
            <a:r>
              <a:rPr sz="700">
                <a:solidFill>
                  <a:srgbClr val="94A3B8"/>
                </a:solidFill>
              </a:rPr>
              <a:t>Server Status + Action History
auto-refresh 30s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Live Stream Tab</a:t>
            </a:r>
          </a:p>
          <a:p>
            <a:pPr algn="ctr"/>
            <a:r>
              <a:rPr sz="700">
                <a:solidFill>
                  <a:srgbClr val="94A3B8"/>
                </a:solidFill>
              </a:rPr>
              <a:t>EventSource · SSE
pause + clear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038344"/>
            <a:ext cx="3840480" cy="411480"/>
          </a:xfrm>
          <a:prstGeom prst="rect">
            <a:avLst/>
          </a:prstGeom>
          <a:solidFill>
            <a:srgbClr val="0F172A"/>
          </a:solidFill>
          <a:ln w="203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/>
          <a:lstStyle/>
          <a:p>
            <a:pPr algn="ctr"/>
            <a:r>
              <a:rPr sz="800" b="1">
                <a:solidFill>
                  <a:srgbClr val="E2E8F0"/>
                </a:solidFill>
              </a:rPr>
              <a:t>Bootstrap 5  ·  dark theme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04120" y="2514600"/>
            <a:ext cx="0" cy="585216"/>
          </a:xfrm>
          <a:prstGeom prst="line">
            <a:avLst/>
          </a:prstGeom>
          <a:ln w="1905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04120" y="3099816"/>
            <a:ext cx="0" cy="585216"/>
          </a:xfrm>
          <a:prstGeom prst="line">
            <a:avLst/>
          </a:prstGeom>
          <a:ln w="1905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104120" y="3685032"/>
            <a:ext cx="0" cy="630936"/>
          </a:xfrm>
          <a:prstGeom prst="line">
            <a:avLst/>
          </a:prstGeom>
          <a:ln w="1905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37560" y="1252728"/>
            <a:ext cx="91440" cy="273405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15000" y="1609344"/>
            <a:ext cx="0" cy="905256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715000" y="3959352"/>
            <a:ext cx="685800" cy="180136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15000" y="4507992"/>
            <a:ext cx="685800" cy="125272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001000" y="1106424"/>
            <a:ext cx="182879" cy="4041648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001000" y="1554480"/>
            <a:ext cx="182879" cy="3593592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001000" y="2002536"/>
            <a:ext cx="182879" cy="3145536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183879" y="1554480"/>
            <a:ext cx="3840481" cy="1819656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8001000" y="1252728"/>
            <a:ext cx="182879" cy="2706624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37560" y="1252728"/>
            <a:ext cx="914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337560" y="1252728"/>
            <a:ext cx="484631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